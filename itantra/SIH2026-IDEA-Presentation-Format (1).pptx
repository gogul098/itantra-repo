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cebookresearch/SONAR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snakers4/silero-vad" TargetMode="External"/><Relationship Id="rId5" Type="http://schemas.openxmlformats.org/officeDocument/2006/relationships/hyperlink" Target="https://github.com/k2-fsa/sherpa-onnx" TargetMode="External"/><Relationship Id="rId4" Type="http://schemas.openxmlformats.org/officeDocument/2006/relationships/hyperlink" Target="https://ai4bharat.iitm.ac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784858"/>
            <a:ext cx="5924550" cy="4871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26173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iTantra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-Indian Multilingual TTS &amp; STT Aided Neural Transceiver Radio Access for low bitrate links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763800" y="1431434"/>
            <a:ext cx="10972800" cy="148692"/>
          </a:xfrm>
        </p:spPr>
        <p:txBody>
          <a:bodyPr>
            <a:noAutofit/>
          </a:bodyPr>
          <a:lstStyle/>
          <a:p>
            <a:pPr eaLnBrk="1" hangingPunct="1"/>
            <a:r>
              <a:rPr lang="en-IN" sz="2800" dirty="0" err="1"/>
              <a:t>iTantra</a:t>
            </a:r>
            <a:r>
              <a:rPr lang="en-IN" sz="2800" dirty="0"/>
              <a:t> – Multilingual Neural Transceiver for Low-Bitrate Links</a:t>
            </a:r>
            <a:endParaRPr lang="en-US" sz="2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998" y="2096416"/>
            <a:ext cx="12191999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</a:t>
            </a:r>
            <a:endParaRPr lang="en-US" sz="28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40207"/>
            <a:ext cx="224985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ConvergeX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654E28-29DC-89E3-6446-753496AC4762}"/>
              </a:ext>
            </a:extLst>
          </p:cNvPr>
          <p:cNvSpPr txBox="1"/>
          <p:nvPr/>
        </p:nvSpPr>
        <p:spPr>
          <a:xfrm>
            <a:off x="416133" y="2959739"/>
            <a:ext cx="3378627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b="1" dirty="0">
                <a:latin typeface="Arial" pitchFamily="34" charset="0"/>
                <a:cs typeface="Arial" pitchFamily="34" charset="0"/>
              </a:rPr>
              <a:t>Detailed explanation of the proposed solution:</a:t>
            </a:r>
          </a:p>
          <a:p>
            <a:pPr algn="just"/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Offline Android app for cross-language voice communication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Converts speech → text → meaning → target-language speech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Supports 10 Indian languages on low-power devices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A2DE99-07EF-7934-65EE-C4ADD7B0191C}"/>
              </a:ext>
            </a:extLst>
          </p:cNvPr>
          <p:cNvSpPr txBox="1"/>
          <p:nvPr/>
        </p:nvSpPr>
        <p:spPr>
          <a:xfrm>
            <a:off x="7959389" y="2971251"/>
            <a:ext cx="3358424" cy="28623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US" b="1" dirty="0">
                <a:latin typeface="Arial" pitchFamily="34" charset="0"/>
                <a:cs typeface="Arial" pitchFamily="34" charset="0"/>
              </a:rPr>
              <a:t>How it addresses the problem:</a:t>
            </a:r>
          </a:p>
          <a:p>
            <a:pPr lvl="0"/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Eliminates dependency on Internet connectivity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Transmits compact semantic data instead of raw audio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Enables low-latency communication over Bluetooth/Wi-Fi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14B2F7-D3F7-9DF5-2215-BEA3349A86CA}"/>
              </a:ext>
            </a:extLst>
          </p:cNvPr>
          <p:cNvSpPr txBox="1"/>
          <p:nvPr/>
        </p:nvSpPr>
        <p:spPr>
          <a:xfrm>
            <a:off x="4177287" y="2959738"/>
            <a:ext cx="3236505" cy="286232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US" b="1" dirty="0">
                <a:latin typeface="Arial" pitchFamily="34" charset="0"/>
                <a:cs typeface="Arial" pitchFamily="34" charset="0"/>
              </a:rPr>
              <a:t>Innovation and uniqueness of the solution:</a:t>
            </a:r>
          </a:p>
          <a:p>
            <a:pPr lvl="0"/>
            <a:endParaRPr lang="en-US" sz="1600" b="1" dirty="0">
              <a:latin typeface="Arial" pitchFamily="34" charset="0"/>
              <a:cs typeface="Arial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SONAR-based cross-lingual semantic communication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One shared semantic layer supports multiple languages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/>
              <a:t>Combines Edge AI, offline STT/TTS, and adaptive voice communication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789C13-F93E-7B84-E324-E6E324D1A006}"/>
              </a:ext>
            </a:extLst>
          </p:cNvPr>
          <p:cNvSpPr txBox="1"/>
          <p:nvPr/>
        </p:nvSpPr>
        <p:spPr>
          <a:xfrm>
            <a:off x="609600" y="1422337"/>
            <a:ext cx="3703320" cy="458587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US" b="1" dirty="0">
                <a:latin typeface="Arial" pitchFamily="34" charset="0"/>
                <a:cs typeface="Arial" pitchFamily="34" charset="0"/>
              </a:rPr>
              <a:t>Technologies to be used</a:t>
            </a:r>
          </a:p>
          <a:p>
            <a:pPr lvl="0"/>
            <a:endParaRPr lang="en-US" b="1" dirty="0">
              <a:latin typeface="Arial" pitchFamily="34" charset="0"/>
              <a:cs typeface="Arial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Kotlin + Python</a:t>
            </a:r>
            <a:r>
              <a:rPr lang="en-IN" sz="1600" dirty="0"/>
              <a:t> — Android development &amp; AI optimization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ONNX Runtime</a:t>
            </a:r>
            <a:r>
              <a:rPr lang="en-IN" sz="1600" dirty="0"/>
              <a:t> — Efficient INT8 edge inference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Silero</a:t>
            </a:r>
            <a:r>
              <a:rPr lang="en-IN" sz="1600" b="1" dirty="0"/>
              <a:t> VAD</a:t>
            </a:r>
            <a:r>
              <a:rPr lang="en-IN" sz="1600" dirty="0"/>
              <a:t> — Speech detection &amp; segmentation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Sherpa-ONNX + </a:t>
            </a:r>
            <a:r>
              <a:rPr lang="en-IN" sz="1600" b="1" dirty="0" err="1"/>
              <a:t>IndicConformer</a:t>
            </a:r>
            <a:r>
              <a:rPr lang="en-IN" sz="1600" dirty="0"/>
              <a:t> — Offline Indian-language STT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Meta SONAR</a:t>
            </a:r>
            <a:r>
              <a:rPr lang="en-IN" sz="1600" dirty="0"/>
              <a:t> — Cross-lingual semantic encoding/decoding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Piper TTS</a:t>
            </a:r>
            <a:r>
              <a:rPr lang="en-IN" sz="1600" dirty="0"/>
              <a:t> — Lightweight offline speech synthesis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BLE L2CAP / RFCOMM</a:t>
            </a:r>
            <a:r>
              <a:rPr lang="en-IN" sz="1600" dirty="0"/>
              <a:t> — Offline Bluetooth data transfer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SQLite</a:t>
            </a:r>
            <a:r>
              <a:rPr lang="en-IN" sz="1600" dirty="0"/>
              <a:t> — Local semantic cache for faster responses</a:t>
            </a:r>
          </a:p>
        </p:txBody>
      </p:sp>
      <p:sp>
        <p:nvSpPr>
          <p:cNvPr id="24" name="Oval 23" descr="Your startup LOGO">
            <a:extLst>
              <a:ext uri="{FF2B5EF4-FFF2-40B4-BE49-F238E27FC236}">
                <a16:creationId xmlns:a16="http://schemas.microsoft.com/office/drawing/2014/main" id="{D731D813-A793-B007-E7AC-ADA8920C94D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1410" y="210784"/>
            <a:ext cx="224985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ConvergeX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9BD211-6123-9648-1421-2B730E9D26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151" b="9491"/>
          <a:stretch>
            <a:fillRect/>
          </a:stretch>
        </p:blipFill>
        <p:spPr>
          <a:xfrm>
            <a:off x="4648200" y="1735667"/>
            <a:ext cx="7281374" cy="39493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6960B8-A7F1-F3DD-576C-14C4989E4395}"/>
              </a:ext>
            </a:extLst>
          </p:cNvPr>
          <p:cNvSpPr txBox="1"/>
          <p:nvPr/>
        </p:nvSpPr>
        <p:spPr>
          <a:xfrm>
            <a:off x="211410" y="2477708"/>
            <a:ext cx="3665220" cy="236988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/>
            <a:r>
              <a:rPr lang="en-US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Feasibility of the idea:</a:t>
            </a:r>
          </a:p>
          <a:p>
            <a:pPr lvl="0"/>
            <a:endParaRPr lang="en-US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Technically feasible</a:t>
            </a:r>
            <a:r>
              <a:rPr lang="en-IN" sz="1600" dirty="0"/>
              <a:t> on low/mid-range Android devices</a:t>
            </a: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Fully offline</a:t>
            </a:r>
            <a:r>
              <a:rPr lang="en-IN" sz="1600" dirty="0"/>
              <a:t> using optimized Edge AI models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Scalable</a:t>
            </a:r>
            <a:r>
              <a:rPr lang="en-IN" sz="1600" dirty="0"/>
              <a:t> across 10 languages using shared SONAR representation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804E9D-1C5E-63EF-8DEB-69D3928C6A3A}"/>
              </a:ext>
            </a:extLst>
          </p:cNvPr>
          <p:cNvSpPr txBox="1"/>
          <p:nvPr/>
        </p:nvSpPr>
        <p:spPr>
          <a:xfrm>
            <a:off x="4186980" y="2478374"/>
            <a:ext cx="3665220" cy="236988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STT accuracy</a:t>
            </a:r>
            <a:r>
              <a:rPr lang="en-IN" sz="1600" dirty="0"/>
              <a:t> across diverse Indian accents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Model size &amp; RAM</a:t>
            </a:r>
            <a:r>
              <a:rPr lang="en-IN" sz="1600" dirty="0"/>
              <a:t> constraints on low-end devices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Latency</a:t>
            </a:r>
            <a:r>
              <a:rPr lang="en-IN" sz="1600" dirty="0"/>
              <a:t> in semantic processing and voice generation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08B7F6-781C-5502-1A41-363E06681F55}"/>
              </a:ext>
            </a:extLst>
          </p:cNvPr>
          <p:cNvSpPr txBox="1"/>
          <p:nvPr/>
        </p:nvSpPr>
        <p:spPr>
          <a:xfrm>
            <a:off x="8223510" y="2477708"/>
            <a:ext cx="3665220" cy="24006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Strategies for overcoming these challenges</a:t>
            </a:r>
          </a:p>
          <a:p>
            <a:endParaRPr lang="en-IN" b="1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INT8 quantization</a:t>
            </a:r>
            <a:r>
              <a:rPr lang="en-IN" sz="1600" dirty="0"/>
              <a:t> and lightweight model optimization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VAD + sentence streaming</a:t>
            </a:r>
            <a:r>
              <a:rPr lang="en-IN" sz="1600" dirty="0"/>
              <a:t> to reduce processing delay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b="1" dirty="0"/>
              <a:t>Benchmark &amp; tune</a:t>
            </a:r>
            <a:r>
              <a:rPr lang="en-IN" sz="1600" dirty="0"/>
              <a:t> WER, RAM, CPU and end-to-end latency</a:t>
            </a:r>
          </a:p>
        </p:txBody>
      </p:sp>
      <p:sp>
        <p:nvSpPr>
          <p:cNvPr id="14" name="Oval 13" descr="Your startup LOGO">
            <a:extLst>
              <a:ext uri="{FF2B5EF4-FFF2-40B4-BE49-F238E27FC236}">
                <a16:creationId xmlns:a16="http://schemas.microsoft.com/office/drawing/2014/main" id="{F0EAC79B-0DE9-7B50-3025-958660B0AE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1410" y="210784"/>
            <a:ext cx="224985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ConvergeX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2E0C91-0C90-0B2B-FDE4-2D2C16AF046D}"/>
              </a:ext>
            </a:extLst>
          </p:cNvPr>
          <p:cNvSpPr txBox="1"/>
          <p:nvPr/>
        </p:nvSpPr>
        <p:spPr>
          <a:xfrm>
            <a:off x="853440" y="2136338"/>
            <a:ext cx="3576320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impact on the target audience:</a:t>
            </a: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Bridges language barriers</a:t>
            </a:r>
            <a:r>
              <a:rPr lang="en-IN" dirty="0"/>
              <a:t> during critical communication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Enables offline communication</a:t>
            </a:r>
            <a:r>
              <a:rPr lang="en-IN" dirty="0"/>
              <a:t> in remote and low-connectivity areas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Improves accessibility</a:t>
            </a:r>
            <a:r>
              <a:rPr lang="en-IN" dirty="0"/>
              <a:t> for regional-language users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313A5-E563-450A-C36F-9ADD542C71FE}"/>
              </a:ext>
            </a:extLst>
          </p:cNvPr>
          <p:cNvSpPr txBox="1"/>
          <p:nvPr/>
        </p:nvSpPr>
        <p:spPr>
          <a:xfrm>
            <a:off x="6136640" y="2413336"/>
            <a:ext cx="5201920" cy="20313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solution:</a:t>
            </a: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Social:</a:t>
            </a:r>
            <a:r>
              <a:rPr lang="en-IN" dirty="0"/>
              <a:t> Inclusive communication across Indian languages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Economic:</a:t>
            </a:r>
            <a:r>
              <a:rPr lang="en-IN" dirty="0"/>
              <a:t> Low-cost solution using existing smartphones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Emergency:</a:t>
            </a:r>
            <a:r>
              <a:rPr lang="en-IN" dirty="0"/>
              <a:t> Reliable voice alerts without Internet dependency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A975F965-F539-402F-BECC-8D07EF08E87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1410" y="210784"/>
            <a:ext cx="224985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ConvergeX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617116"/>
            <a:ext cx="9987280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/>
            <a:r>
              <a:rPr lang="en-IN" sz="2800" b="1" dirty="0"/>
              <a:t>Meta SONAR (GitHub Repository):</a:t>
            </a:r>
            <a:r>
              <a:rPr lang="en-IN" sz="2800" dirty="0"/>
              <a:t> </a:t>
            </a:r>
            <a:r>
              <a:rPr lang="en-IN" sz="2800" dirty="0">
                <a:hlinkClick r:id="rId3"/>
              </a:rPr>
              <a:t>https://github.com/facebookresearch/SONAR</a:t>
            </a:r>
            <a:endParaRPr lang="en-IN" sz="2800" dirty="0"/>
          </a:p>
          <a:p>
            <a:pPr lvl="0"/>
            <a:r>
              <a:rPr lang="en-IN" sz="2800" b="1" dirty="0"/>
              <a:t>AI4Bharat (Official Research Portal):</a:t>
            </a:r>
            <a:r>
              <a:rPr lang="en-IN" sz="2800" dirty="0"/>
              <a:t> </a:t>
            </a:r>
            <a:r>
              <a:rPr lang="en-IN" sz="2800" dirty="0">
                <a:hlinkClick r:id="rId4"/>
              </a:rPr>
              <a:t>https://ai4bharat.iitm.ac.in/</a:t>
            </a:r>
            <a:endParaRPr lang="en-IN" sz="2800" dirty="0"/>
          </a:p>
          <a:p>
            <a:pPr lvl="0"/>
            <a:r>
              <a:rPr lang="en-IN" sz="2800" b="1" dirty="0"/>
              <a:t>Sherpa-ONNX (GitHub Repository):</a:t>
            </a:r>
            <a:r>
              <a:rPr lang="en-IN" sz="2800" dirty="0"/>
              <a:t> </a:t>
            </a:r>
            <a:r>
              <a:rPr lang="en-IN" sz="2800" dirty="0">
                <a:hlinkClick r:id="rId5"/>
              </a:rPr>
              <a:t>https://github.com/k2-fsa/sherpa-onnx</a:t>
            </a:r>
            <a:endParaRPr lang="en-IN" sz="2800" dirty="0"/>
          </a:p>
          <a:p>
            <a:pPr lvl="0"/>
            <a:r>
              <a:rPr lang="en-IN" sz="2800" b="1" dirty="0" err="1"/>
              <a:t>Silero</a:t>
            </a:r>
            <a:r>
              <a:rPr lang="en-IN" sz="2800" b="1" dirty="0"/>
              <a:t> VAD (GitHub Repository):</a:t>
            </a:r>
            <a:r>
              <a:rPr lang="en-IN" sz="2800" dirty="0"/>
              <a:t> </a:t>
            </a:r>
            <a:r>
              <a:rPr lang="en-IN" sz="2800" dirty="0">
                <a:hlinkClick r:id="rId6"/>
              </a:rPr>
              <a:t>https://github.com/snakers4/silero-vad</a:t>
            </a:r>
            <a:endParaRPr lang="en-IN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98971C5F-272F-E692-41A1-2B9088DDF92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1410" y="210784"/>
            <a:ext cx="224985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err="1"/>
              <a:t>ConvergeX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7598</TotalTime>
  <Words>455</Words>
  <Application>Microsoft Office PowerPoint</Application>
  <PresentationFormat>Widescreen</PresentationFormat>
  <Paragraphs>90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iTantra – Multilingual Neural Transceiver for Low-Bitrate Links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G GOGULAKRISHNAN-[CH.SC.U4AIE24019]</cp:lastModifiedBy>
  <cp:revision>151</cp:revision>
  <dcterms:created xsi:type="dcterms:W3CDTF">2013-12-12T18:46:50Z</dcterms:created>
  <dcterms:modified xsi:type="dcterms:W3CDTF">2026-09-04T18:16:52Z</dcterms:modified>
  <cp:category/>
</cp:coreProperties>
</file>